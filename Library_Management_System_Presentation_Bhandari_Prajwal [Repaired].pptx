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8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04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97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64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053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07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80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0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828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2241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9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91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31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94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436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23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054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31520" y="777240"/>
            <a:ext cx="1069848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Aptos"/>
              </a:rPr>
              <a:t>Library Management System</a:t>
            </a:r>
            <a:endParaRPr lang="en-US" sz="4000"/>
          </a:p>
        </p:txBody>
      </p:sp>
      <p:sp>
        <p:nvSpPr>
          <p:cNvPr id="5" name="TextBox 5"/>
          <p:cNvSpPr txBox="1"/>
          <p:nvPr/>
        </p:nvSpPr>
        <p:spPr>
          <a:xfrm>
            <a:off x="768096" y="16916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000" b="0">
                <a:solidFill>
                  <a:srgbClr val="D7EEF6"/>
                </a:solidFill>
                <a:latin typeface="Aptos"/>
              </a:rPr>
              <a:t>Python CLI project with SQLite database</a:t>
            </a:r>
            <a:endParaRPr lang="en-US" sz="2000"/>
          </a:p>
        </p:txBody>
      </p:sp>
      <p:sp>
        <p:nvSpPr>
          <p:cNvPr id="6" name="Shape 6"/>
          <p:cNvSpPr/>
          <p:nvPr/>
        </p:nvSpPr>
        <p:spPr>
          <a:xfrm>
            <a:off x="777240" y="2743200"/>
            <a:ext cx="4754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60120" y="2907792"/>
            <a:ext cx="438912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200" b="1">
                <a:solidFill>
                  <a:srgbClr val="111827"/>
                </a:solidFill>
                <a:latin typeface="Aptos"/>
              </a:rPr>
              <a:t>Bhandari Prajwal</a:t>
            </a:r>
            <a:endParaRPr lang="en-US" sz="2200"/>
          </a:p>
          <a:p>
            <a:pPr marL="0" indent="0" algn="l">
              <a:buNone/>
            </a:pPr>
            <a:r>
              <a:rPr lang="en-US" sz="2200" b="1">
                <a:solidFill>
                  <a:srgbClr val="111827"/>
                </a:solidFill>
                <a:latin typeface="Aptos"/>
              </a:rPr>
              <a:t>ID: 25013467</a:t>
            </a:r>
            <a:endParaRPr lang="en-US" sz="2200"/>
          </a:p>
          <a:p>
            <a:pPr marL="0" indent="0" algn="l">
              <a:buNone/>
            </a:pPr>
            <a:r>
              <a:rPr lang="en-US" sz="2200" b="1">
                <a:solidFill>
                  <a:srgbClr val="111827"/>
                </a:solidFill>
                <a:latin typeface="Aptos"/>
              </a:rPr>
              <a:t>Sejong University</a:t>
            </a:r>
            <a:endParaRPr lang="en-US" sz="2200"/>
          </a:p>
        </p:txBody>
      </p:sp>
      <p:sp>
        <p:nvSpPr>
          <p:cNvPr id="8" name="TextBox 8"/>
          <p:cNvSpPr txBox="1"/>
          <p:nvPr/>
        </p:nvSpPr>
        <p:spPr>
          <a:xfrm>
            <a:off x="822960" y="574243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300" b="0">
                <a:solidFill>
                  <a:srgbClr val="E0F2FE"/>
                </a:solidFill>
                <a:latin typeface="Aptos"/>
              </a:rPr>
              <a:t>GitHub: github.com/prajwal3550/Library_Management_System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3000" b="1">
                <a:solidFill>
                  <a:srgbClr val="19324D"/>
                </a:solidFill>
                <a:latin typeface="Aptos"/>
              </a:rPr>
              <a:t>Project Overview</a:t>
            </a:r>
            <a:endParaRPr lang="en-US" sz="3000"/>
          </a:p>
        </p:txBody>
      </p:sp>
      <p:sp>
        <p:nvSpPr>
          <p:cNvPr id="10" name="TextBox 10"/>
          <p:cNvSpPr txBox="1"/>
          <p:nvPr/>
        </p:nvSpPr>
        <p:spPr>
          <a:xfrm>
            <a:off x="731520" y="114300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111827"/>
                </a:solidFill>
                <a:latin typeface="Aptos"/>
              </a:rPr>
              <a:t>Purpose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1.Manage a small library book inventory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2.Store book records permanently in SQLite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3.Provide simple menu-based console operations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4.Reduce manual tracking errors</a:t>
            </a:r>
            <a:endParaRPr lang="en-US" sz="2000" dirty="0"/>
          </a:p>
        </p:txBody>
      </p:sp>
      <p:sp>
        <p:nvSpPr>
          <p:cNvPr id="11" name="TextBox 11"/>
          <p:cNvSpPr txBox="1"/>
          <p:nvPr/>
        </p:nvSpPr>
        <p:spPr>
          <a:xfrm>
            <a:off x="6126480" y="1143000"/>
            <a:ext cx="5029200" cy="3108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111827"/>
                </a:solidFill>
                <a:latin typeface="Aptos"/>
              </a:rPr>
              <a:t>Main Users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1.Library staff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2.Students managing mini-project inventory</a:t>
            </a:r>
            <a:endParaRPr lang="en-US" sz="2000" dirty="0"/>
          </a:p>
          <a:p>
            <a:pPr marL="54864" algn="l"/>
            <a:r>
              <a:rPr lang="en-US" sz="2000" b="0" dirty="0">
                <a:solidFill>
                  <a:srgbClr val="111827"/>
                </a:solidFill>
                <a:latin typeface="Aptos"/>
              </a:rPr>
              <a:t>3.Beginner Python learners studying CRUD operations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731520" y="4754880"/>
            <a:ext cx="1060704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3C5F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60120" y="4882896"/>
            <a:ext cx="1014984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800" b="1">
                <a:solidFill>
                  <a:srgbClr val="19324D"/>
                </a:solidFill>
                <a:latin typeface="Aptos"/>
              </a:rPr>
              <a:t>Core idea: one menu loop controls all book operations and updates the SQLite database after every change.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3000" b="1">
                <a:solidFill>
                  <a:srgbClr val="19324D"/>
                </a:solidFill>
                <a:latin typeface="Aptos"/>
              </a:rPr>
              <a:t>Tools and Features</a:t>
            </a:r>
            <a:endParaRPr lang="en-US" sz="3000"/>
          </a:p>
        </p:txBody>
      </p:sp>
      <p:sp>
        <p:nvSpPr>
          <p:cNvPr id="15" name="Shape 15"/>
          <p:cNvSpPr/>
          <p:nvPr/>
        </p:nvSpPr>
        <p:spPr>
          <a:xfrm>
            <a:off x="685800" y="11430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685800" y="1143000"/>
            <a:ext cx="164592" cy="1508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005840" y="130759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200" b="1">
                <a:solidFill>
                  <a:srgbClr val="0E7490"/>
                </a:solidFill>
                <a:latin typeface="Aptos"/>
              </a:rPr>
              <a:t>Python</a:t>
            </a:r>
            <a:endParaRPr lang="en-US" sz="2200"/>
          </a:p>
        </p:txBody>
      </p:sp>
      <p:sp>
        <p:nvSpPr>
          <p:cNvPr id="18" name="TextBox 18"/>
          <p:cNvSpPr txBox="1"/>
          <p:nvPr/>
        </p:nvSpPr>
        <p:spPr>
          <a:xfrm>
            <a:off x="1005840" y="1764792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500" b="0">
                <a:solidFill>
                  <a:srgbClr val="111827"/>
                </a:solidFill>
                <a:latin typeface="Aptos"/>
              </a:rPr>
              <a:t>Main programming language for the command-line application.</a:t>
            </a:r>
            <a:endParaRPr lang="en-US" sz="1500"/>
          </a:p>
        </p:txBody>
      </p:sp>
      <p:sp>
        <p:nvSpPr>
          <p:cNvPr id="19" name="Shape 19"/>
          <p:cNvSpPr/>
          <p:nvPr/>
        </p:nvSpPr>
        <p:spPr>
          <a:xfrm>
            <a:off x="6172200" y="11430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6172200" y="1143000"/>
            <a:ext cx="164592" cy="1508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6492240" y="130759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200" b="1">
                <a:solidFill>
                  <a:srgbClr val="15803D"/>
                </a:solidFill>
                <a:latin typeface="Aptos"/>
              </a:rPr>
              <a:t>SQLite</a:t>
            </a:r>
            <a:endParaRPr lang="en-US" sz="2200"/>
          </a:p>
        </p:txBody>
      </p:sp>
      <p:sp>
        <p:nvSpPr>
          <p:cNvPr id="22" name="TextBox 22"/>
          <p:cNvSpPr txBox="1"/>
          <p:nvPr/>
        </p:nvSpPr>
        <p:spPr>
          <a:xfrm>
            <a:off x="6492240" y="1764792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500" b="0">
                <a:solidFill>
                  <a:srgbClr val="111827"/>
                </a:solidFill>
                <a:latin typeface="Aptos"/>
              </a:rPr>
              <a:t>Stores book id, title, author, and quantity in a local database.</a:t>
            </a:r>
            <a:endParaRPr lang="en-US" sz="1500"/>
          </a:p>
        </p:txBody>
      </p:sp>
      <p:sp>
        <p:nvSpPr>
          <p:cNvPr id="23" name="Shape 23"/>
          <p:cNvSpPr/>
          <p:nvPr/>
        </p:nvSpPr>
        <p:spPr>
          <a:xfrm>
            <a:off x="685800" y="32004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685800" y="3200400"/>
            <a:ext cx="16459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005840" y="336499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200" b="1">
                <a:solidFill>
                  <a:srgbClr val="F59E0B"/>
                </a:solidFill>
                <a:latin typeface="Aptos"/>
              </a:rPr>
              <a:t>CRUD</a:t>
            </a:r>
            <a:endParaRPr lang="en-US" sz="2200"/>
          </a:p>
        </p:txBody>
      </p:sp>
      <p:sp>
        <p:nvSpPr>
          <p:cNvPr id="26" name="TextBox 26"/>
          <p:cNvSpPr txBox="1"/>
          <p:nvPr/>
        </p:nvSpPr>
        <p:spPr>
          <a:xfrm>
            <a:off x="1005840" y="3822192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500" b="0">
                <a:solidFill>
                  <a:srgbClr val="111827"/>
                </a:solidFill>
                <a:latin typeface="Aptos"/>
              </a:rPr>
              <a:t>Add, view, search, update, and delete book records.</a:t>
            </a:r>
            <a:endParaRPr lang="en-US" sz="1500"/>
          </a:p>
        </p:txBody>
      </p:sp>
      <p:sp>
        <p:nvSpPr>
          <p:cNvPr id="27" name="Shape 27"/>
          <p:cNvSpPr/>
          <p:nvPr/>
        </p:nvSpPr>
        <p:spPr>
          <a:xfrm>
            <a:off x="6172200" y="32004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6172200" y="3200400"/>
            <a:ext cx="16459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6492240" y="336499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200" b="1">
                <a:solidFill>
                  <a:srgbClr val="7C3AED"/>
                </a:solidFill>
                <a:latin typeface="Aptos"/>
              </a:rPr>
              <a:t>Circulation</a:t>
            </a:r>
            <a:endParaRPr lang="en-US" sz="2200"/>
          </a:p>
        </p:txBody>
      </p:sp>
      <p:sp>
        <p:nvSpPr>
          <p:cNvPr id="30" name="TextBox 30"/>
          <p:cNvSpPr txBox="1"/>
          <p:nvPr/>
        </p:nvSpPr>
        <p:spPr>
          <a:xfrm>
            <a:off x="6492240" y="3822192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500" b="0">
                <a:solidFill>
                  <a:srgbClr val="111827"/>
                </a:solidFill>
                <a:latin typeface="Aptos"/>
              </a:rPr>
              <a:t>Issue and return books by changing available quantity.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1"/>
          <p:cNvSpPr txBox="1"/>
          <p:nvPr/>
        </p:nvSpPr>
        <p:spPr>
          <a:xfrm>
            <a:off x="548640" y="32004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3000" b="1">
                <a:solidFill>
                  <a:srgbClr val="19324D"/>
                </a:solidFill>
                <a:latin typeface="Aptos"/>
              </a:rPr>
              <a:t>Database Design</a:t>
            </a:r>
            <a:endParaRPr lang="en-US" sz="3000"/>
          </a:p>
        </p:txBody>
      </p:sp>
      <p:sp>
        <p:nvSpPr>
          <p:cNvPr id="32" name="TextBox 32"/>
          <p:cNvSpPr txBox="1"/>
          <p:nvPr/>
        </p:nvSpPr>
        <p:spPr>
          <a:xfrm>
            <a:off x="731520" y="960120"/>
            <a:ext cx="4572000" cy="4389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900" b="0" dirty="0">
                <a:solidFill>
                  <a:srgbClr val="111827"/>
                </a:solidFill>
                <a:latin typeface="Aptos"/>
              </a:rPr>
              <a:t>SQLite table: books</a:t>
            </a:r>
            <a:endParaRPr lang="en-US" sz="1900" dirty="0"/>
          </a:p>
          <a:p>
            <a:endParaRPr lang="en-US" sz="1900" dirty="0"/>
          </a:p>
          <a:p>
            <a:pPr marL="54864" algn="l"/>
            <a:r>
              <a:rPr lang="en-US" sz="1900" b="0" dirty="0">
                <a:solidFill>
                  <a:srgbClr val="111827"/>
                </a:solidFill>
                <a:latin typeface="Aptos"/>
              </a:rPr>
              <a:t>id: INTEGER PRIMARY KEY AUTOINCREMENT</a:t>
            </a:r>
            <a:endParaRPr lang="en-US" sz="1900" dirty="0"/>
          </a:p>
          <a:p>
            <a:pPr marL="54864" algn="l"/>
            <a:r>
              <a:rPr lang="en-US" sz="1900" b="0" dirty="0">
                <a:solidFill>
                  <a:srgbClr val="111827"/>
                </a:solidFill>
                <a:latin typeface="Aptos"/>
              </a:rPr>
              <a:t>title: TEXT NOT NULL</a:t>
            </a:r>
            <a:endParaRPr lang="en-US" sz="1900" dirty="0"/>
          </a:p>
          <a:p>
            <a:pPr marL="54864" algn="l"/>
            <a:r>
              <a:rPr lang="en-US" sz="1900" b="0" dirty="0">
                <a:solidFill>
                  <a:srgbClr val="111827"/>
                </a:solidFill>
                <a:latin typeface="Aptos"/>
              </a:rPr>
              <a:t>author: TEXT NOT NULL</a:t>
            </a:r>
            <a:endParaRPr lang="en-US" sz="1900" dirty="0"/>
          </a:p>
          <a:p>
            <a:pPr marL="54864" algn="l"/>
            <a:r>
              <a:rPr lang="en-US" sz="1900" b="0" dirty="0">
                <a:solidFill>
                  <a:srgbClr val="111827"/>
                </a:solidFill>
                <a:latin typeface="Aptos"/>
              </a:rPr>
              <a:t>quantity: INTEGER NOT NULL</a:t>
            </a:r>
            <a:endParaRPr lang="en-US" sz="1900" dirty="0"/>
          </a:p>
          <a:p>
            <a:endParaRPr lang="en-US" sz="1900" dirty="0"/>
          </a:p>
          <a:p>
            <a:pPr marL="0" indent="0" algn="l">
              <a:buNone/>
            </a:pPr>
            <a:r>
              <a:rPr lang="en-US" sz="1900" b="0" dirty="0">
                <a:solidFill>
                  <a:srgbClr val="111827"/>
                </a:solidFill>
                <a:latin typeface="Aptos"/>
              </a:rPr>
              <a:t>The quantity field is increased when a book is returned and decreased when a book is issued.</a:t>
            </a:r>
            <a:endParaRPr lang="en-US" sz="1900" dirty="0"/>
          </a:p>
        </p:txBody>
      </p:sp>
      <p:sp>
        <p:nvSpPr>
          <p:cNvPr id="33" name="Shape 33"/>
          <p:cNvSpPr/>
          <p:nvPr/>
        </p:nvSpPr>
        <p:spPr>
          <a:xfrm>
            <a:off x="5852160" y="1234440"/>
            <a:ext cx="48463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6126480" y="148132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400" b="1">
                <a:solidFill>
                  <a:srgbClr val="19324D"/>
                </a:solidFill>
                <a:latin typeface="Aptos"/>
              </a:rPr>
              <a:t>books</a:t>
            </a:r>
            <a:endParaRPr lang="en-US" sz="2400"/>
          </a:p>
        </p:txBody>
      </p:sp>
      <p:cxnSp>
        <p:nvCxnSpPr>
          <p:cNvPr id="35" name="Line 35"/>
          <p:cNvCxnSpPr/>
          <p:nvPr/>
        </p:nvCxnSpPr>
        <p:spPr>
          <a:xfrm>
            <a:off x="6172200" y="2084831"/>
            <a:ext cx="4206240" cy="0"/>
          </a:xfrm>
          <a:prstGeom prst="line">
            <a:avLst/>
          </a:prstGeom>
          <a:ln w="19050">
            <a:solidFill>
              <a:srgbClr val="CBD5E1"/>
            </a:solidFill>
          </a:ln>
        </p:spPr>
      </p:cxnSp>
      <p:sp>
        <p:nvSpPr>
          <p:cNvPr id="36" name="TextBox 36"/>
          <p:cNvSpPr txBox="1"/>
          <p:nvPr/>
        </p:nvSpPr>
        <p:spPr>
          <a:xfrm>
            <a:off x="6263640" y="2240280"/>
            <a:ext cx="393192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900" b="0">
                <a:solidFill>
                  <a:srgbClr val="111827"/>
                </a:solidFill>
                <a:latin typeface="Aptos"/>
              </a:rPr>
              <a:t>id        Primary key</a:t>
            </a:r>
            <a:endParaRPr lang="en-US" sz="1900"/>
          </a:p>
          <a:p>
            <a:pPr marL="0" indent="0" algn="l">
              <a:buNone/>
            </a:pPr>
            <a:r>
              <a:rPr lang="en-US" sz="1900" b="0">
                <a:solidFill>
                  <a:srgbClr val="111827"/>
                </a:solidFill>
                <a:latin typeface="Aptos"/>
              </a:rPr>
              <a:t>title     Book name</a:t>
            </a:r>
            <a:endParaRPr lang="en-US" sz="1900"/>
          </a:p>
          <a:p>
            <a:pPr marL="0" indent="0" algn="l">
              <a:buNone/>
            </a:pPr>
            <a:r>
              <a:rPr lang="en-US" sz="1900" b="0">
                <a:solidFill>
                  <a:srgbClr val="111827"/>
                </a:solidFill>
                <a:latin typeface="Aptos"/>
              </a:rPr>
              <a:t>author    Writer name</a:t>
            </a:r>
            <a:endParaRPr lang="en-US" sz="1900"/>
          </a:p>
          <a:p>
            <a:pPr marL="0" indent="0" algn="l">
              <a:buNone/>
            </a:pPr>
            <a:r>
              <a:rPr lang="en-US" sz="1900" b="0">
                <a:solidFill>
                  <a:srgbClr val="111827"/>
                </a:solidFill>
                <a:latin typeface="Aptos"/>
              </a:rPr>
              <a:t>quantity  Available copies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7"/>
          <p:cNvSpPr txBox="1"/>
          <p:nvPr/>
        </p:nvSpPr>
        <p:spPr>
          <a:xfrm>
            <a:off x="548640" y="32004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3000" b="1">
                <a:solidFill>
                  <a:srgbClr val="19324D"/>
                </a:solidFill>
                <a:latin typeface="Aptos"/>
              </a:rPr>
              <a:t>Program Flowchart</a:t>
            </a:r>
            <a:endParaRPr lang="en-US" sz="3000"/>
          </a:p>
        </p:txBody>
      </p:sp>
      <p:sp>
        <p:nvSpPr>
          <p:cNvPr id="38" name="TextBox 38"/>
          <p:cNvSpPr txBox="1"/>
          <p:nvPr/>
        </p:nvSpPr>
        <p:spPr>
          <a:xfrm>
            <a:off x="731520" y="114300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111827"/>
                </a:solidFill>
                <a:latin typeface="Aptos"/>
              </a:rPr>
              <a:t>Execution Flow</a:t>
            </a:r>
            <a:endParaRPr lang="en-US" sz="2100" dirty="0"/>
          </a:p>
          <a:p>
            <a:pPr marL="54864" algn="l"/>
            <a:r>
              <a:rPr lang="en-US" sz="2100" b="0" dirty="0">
                <a:solidFill>
                  <a:srgbClr val="111827"/>
                </a:solidFill>
                <a:latin typeface="Aptos"/>
              </a:rPr>
              <a:t>1.Start the program and display menu</a:t>
            </a:r>
            <a:endParaRPr lang="en-US" sz="2100" dirty="0"/>
          </a:p>
          <a:p>
            <a:pPr marL="54864" algn="l"/>
            <a:r>
              <a:rPr lang="en-US" sz="2100" b="0" dirty="0">
                <a:solidFill>
                  <a:srgbClr val="111827"/>
                </a:solidFill>
                <a:latin typeface="Aptos"/>
              </a:rPr>
              <a:t>2.User chooses an operation</a:t>
            </a:r>
            <a:endParaRPr lang="en-US" sz="2100" dirty="0"/>
          </a:p>
          <a:p>
            <a:pPr marL="54864" algn="l"/>
            <a:r>
              <a:rPr lang="en-US" sz="2100" b="0" dirty="0">
                <a:solidFill>
                  <a:srgbClr val="111827"/>
                </a:solidFill>
                <a:latin typeface="Aptos"/>
              </a:rPr>
              <a:t>3.Selected function performs database action</a:t>
            </a:r>
            <a:endParaRPr lang="en-US" sz="2100" dirty="0"/>
          </a:p>
          <a:p>
            <a:pPr marL="54864" algn="l"/>
            <a:r>
              <a:rPr lang="en-US" sz="2100" b="0" dirty="0">
                <a:solidFill>
                  <a:srgbClr val="111827"/>
                </a:solidFill>
                <a:latin typeface="Aptos"/>
              </a:rPr>
              <a:t>4.Updated result is shown in terminal</a:t>
            </a:r>
            <a:endParaRPr lang="en-US" sz="2100" dirty="0"/>
          </a:p>
          <a:p>
            <a:pPr marL="54864" algn="l"/>
            <a:r>
              <a:rPr lang="en-US" sz="2100" b="0" dirty="0">
                <a:solidFill>
                  <a:srgbClr val="111827"/>
                </a:solidFill>
                <a:latin typeface="Aptos"/>
              </a:rPr>
              <a:t>5.Program repeats until Exit is selected</a:t>
            </a:r>
            <a:endParaRPr lang="en-US" sz="2100" dirty="0"/>
          </a:p>
        </p:txBody>
      </p:sp>
      <p:pic>
        <p:nvPicPr>
          <p:cNvPr id="39" name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53" y="868680"/>
            <a:ext cx="3832293" cy="516636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 txBox="1"/>
          <p:nvPr/>
        </p:nvSpPr>
        <p:spPr>
          <a:xfrm>
            <a:off x="548640" y="3200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800" b="1">
                <a:solidFill>
                  <a:srgbClr val="19324D"/>
                </a:solidFill>
                <a:latin typeface="Aptos"/>
              </a:rPr>
              <a:t>Demo Output: Add, View, and Search</a:t>
            </a:r>
            <a:endParaRPr lang="en-US" sz="2800"/>
          </a:p>
        </p:txBody>
      </p:sp>
      <p:pic>
        <p:nvPicPr>
          <p:cNvPr id="41" name="output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960" y="1170432"/>
            <a:ext cx="7721600" cy="434340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42" name="TextBox 42"/>
          <p:cNvSpPr txBox="1"/>
          <p:nvPr/>
        </p:nvSpPr>
        <p:spPr>
          <a:xfrm>
            <a:off x="731520" y="5650992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64748B"/>
                </a:solidFill>
                <a:latin typeface="Aptos"/>
              </a:rPr>
              <a:t>This screenshot shows adding Atomic Habit, listing stored records, and searching by title.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548640" y="3200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800" b="1">
                <a:solidFill>
                  <a:srgbClr val="19324D"/>
                </a:solidFill>
                <a:latin typeface="Aptos"/>
              </a:rPr>
              <a:t>Demo Output: Issue Book</a:t>
            </a:r>
            <a:endParaRPr lang="en-US" sz="2800"/>
          </a:p>
        </p:txBody>
      </p:sp>
      <p:pic>
        <p:nvPicPr>
          <p:cNvPr id="44" name="output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960" y="1170432"/>
            <a:ext cx="7721600" cy="434340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45" name="TextBox 45"/>
          <p:cNvSpPr txBox="1"/>
          <p:nvPr/>
        </p:nvSpPr>
        <p:spPr>
          <a:xfrm>
            <a:off x="731520" y="56509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500" b="0">
                <a:solidFill>
                  <a:srgbClr val="64748B"/>
                </a:solidFill>
                <a:latin typeface="Aptos"/>
              </a:rPr>
              <a:t>After issuing book ID 2, the available quantity changes from 10 to 9.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548640" y="3200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9324D"/>
                </a:solidFill>
                <a:latin typeface="Aptos"/>
              </a:rPr>
              <a:t>Github</a:t>
            </a:r>
            <a:r>
              <a:rPr lang="en-US" sz="2800" b="1" dirty="0">
                <a:solidFill>
                  <a:srgbClr val="19324D"/>
                </a:solidFill>
                <a:latin typeface="Aptos"/>
              </a:rPr>
              <a:t> Repository</a:t>
            </a:r>
            <a:endParaRPr lang="en-US" sz="2800" dirty="0"/>
          </a:p>
        </p:txBody>
      </p:sp>
      <p:sp>
        <p:nvSpPr>
          <p:cNvPr id="45" name="TextBox 45"/>
          <p:cNvSpPr txBox="1"/>
          <p:nvPr/>
        </p:nvSpPr>
        <p:spPr>
          <a:xfrm>
            <a:off x="731520" y="56509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r>
              <a:rPr lang="en-US" sz="1500" dirty="0">
                <a:solidFill>
                  <a:srgbClr val="64748B"/>
                </a:solidFill>
                <a:latin typeface="Aptos"/>
              </a:rPr>
              <a:t>https://github.com/prajwal3550/Library_Management_System.git</a:t>
            </a:r>
            <a:endParaRPr lang="en-US" sz="15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D3B26D-5183-417B-B691-C73D332E7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63" y="919069"/>
            <a:ext cx="8817997" cy="44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685800" y="59436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3400" b="1">
                <a:solidFill>
                  <a:srgbClr val="19324D"/>
                </a:solidFill>
                <a:latin typeface="Aptos"/>
              </a:rPr>
              <a:t>Conclusion</a:t>
            </a:r>
            <a:endParaRPr lang="en-US" sz="3400"/>
          </a:p>
        </p:txBody>
      </p:sp>
      <p:sp>
        <p:nvSpPr>
          <p:cNvPr id="48" name="TextBox 48"/>
          <p:cNvSpPr txBox="1"/>
          <p:nvPr/>
        </p:nvSpPr>
        <p:spPr>
          <a:xfrm>
            <a:off x="868680" y="1600200"/>
            <a:ext cx="996696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2400" b="0">
                <a:solidFill>
                  <a:srgbClr val="111827"/>
                </a:solidFill>
                <a:latin typeface="Aptos"/>
              </a:rPr>
              <a:t>The Library Management System demonstrates a complete beginner-friendly database application using Python and SQLite. It supports essential inventory tasks, keeps data persistent, and gives clear terminal feedback after every operation.</a:t>
            </a:r>
            <a:endParaRPr lang="en-US" sz="2400"/>
          </a:p>
        </p:txBody>
      </p:sp>
      <p:sp>
        <p:nvSpPr>
          <p:cNvPr id="49" name="Shape 49"/>
          <p:cNvSpPr/>
          <p:nvPr/>
        </p:nvSpPr>
        <p:spPr>
          <a:xfrm>
            <a:off x="868680" y="4846320"/>
            <a:ext cx="9875520" cy="777240"/>
          </a:xfrm>
          <a:prstGeom prst="roundRect">
            <a:avLst/>
          </a:prstGeom>
          <a:solidFill>
            <a:srgbClr val="19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1097280" y="4983480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Aptos"/>
              </a:rPr>
              <a:t>Presented by Bhandari Prajwal | ID 25013467 | Sejong University</a:t>
            </a:r>
            <a:endParaRPr lang="en-US" sz="17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358</Words>
  <Application>Microsoft Office PowerPoint</Application>
  <PresentationFormat>와이드스크린</PresentationFormat>
  <Paragraphs>56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Gothic</vt:lpstr>
      <vt:lpstr>Wingdings 3</vt:lpstr>
      <vt:lpstr>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Presentation</dc:title>
  <dc:creator>Bhandari Prajwal</dc:creator>
  <cp:lastModifiedBy>SEJONG</cp:lastModifiedBy>
  <cp:revision>2</cp:revision>
  <dcterms:created xsi:type="dcterms:W3CDTF">2026-06-17T05:18:40Z</dcterms:created>
  <dcterms:modified xsi:type="dcterms:W3CDTF">2026-06-17T08:06:45Z</dcterms:modified>
</cp:coreProperties>
</file>